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72" r:id="rId6"/>
    <p:sldId id="263" r:id="rId7"/>
    <p:sldId id="274" r:id="rId8"/>
    <p:sldId id="262" r:id="rId9"/>
    <p:sldId id="265" r:id="rId10"/>
    <p:sldId id="267" r:id="rId11"/>
    <p:sldId id="271" r:id="rId12"/>
  </p:sldIdLst>
  <p:sldSz cx="18288000" cy="10287000"/>
  <p:notesSz cx="6858000" cy="9144000"/>
  <p:embeddedFontLst>
    <p:embeddedFont>
      <p:font typeface="Canva Sans Bold Italics" panose="020B0604020202020204" charset="0"/>
      <p:regular r:id="rId14"/>
    </p:embeddedFont>
    <p:embeddedFont>
      <p:font typeface="Fraunces Bold" panose="020B0604020202020204" charset="0"/>
      <p:regular r:id="rId15"/>
    </p:embeddedFont>
    <p:embeddedFont>
      <p:font typeface="Fraunces Heavy" panose="020B0604020202020204" charset="0"/>
      <p:regular r:id="rId16"/>
    </p:embeddedFont>
    <p:embeddedFont>
      <p:font typeface="Telegraf" panose="020B0604020202020204" charset="0"/>
      <p:regular r:id="rId17"/>
    </p:embeddedFont>
    <p:embeddedFont>
      <p:font typeface="Telegraf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sh Dharshan" initials="AD" lastIdx="1" clrIdx="0">
    <p:extLst>
      <p:ext uri="{19B8F6BF-5375-455C-9EA6-DF929625EA0E}">
        <p15:presenceInfo xmlns:p15="http://schemas.microsoft.com/office/powerpoint/2012/main" userId="b048c517fe1bc1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21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8FAEA-C4C4-41AA-B009-4874F1C0254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FD955-A303-4564-9FBE-B015DBC5C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04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FD955-A303-4564-9FBE-B015DBC5C7B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61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A12B-5DD0-10FC-6524-91012F6C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10817-D6CE-F276-1B5D-3A8801967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2E201-7A5E-9D05-A656-F8E925CCA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353D0-D8A7-CA42-75BD-DCBB055F4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FD955-A303-4564-9FBE-B015DBC5C7B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33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6545" y="934316"/>
            <a:ext cx="16394909" cy="241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9"/>
              </a:lnSpc>
              <a:spcBef>
                <a:spcPct val="0"/>
              </a:spcBef>
            </a:pPr>
            <a:r>
              <a:rPr lang="en-US" sz="14499" b="1" spc="869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Sales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08611" y="680844"/>
            <a:ext cx="4670777" cy="60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spc="262" dirty="0">
                <a:solidFill>
                  <a:srgbClr val="158E2C"/>
                </a:solidFill>
                <a:latin typeface="Telegraf"/>
                <a:ea typeface="Telegraf"/>
                <a:cs typeface="Telegraf"/>
                <a:sym typeface="Telegraf"/>
              </a:rPr>
              <a:t>Super Store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88307" y="2767307"/>
            <a:ext cx="10911386" cy="889278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190500" cap="sq">
              <a:solidFill>
                <a:srgbClr val="158E2C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2788" y="527750"/>
            <a:ext cx="7200569" cy="923149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47893" y="2860358"/>
            <a:ext cx="9111407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 spc="160" dirty="0">
                <a:solidFill>
                  <a:srgbClr val="002060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47893" y="4312106"/>
            <a:ext cx="9111407" cy="60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b="1" spc="215" dirty="0">
                <a:solidFill>
                  <a:srgbClr val="158E2C"/>
                </a:solidFill>
                <a:latin typeface="Telegraf Bold"/>
                <a:ea typeface="Telegraf Bold"/>
                <a:cs typeface="Telegraf Bold"/>
                <a:sym typeface="Telegraf Bold"/>
              </a:rPr>
              <a:t>Myself, Aakash Dharshan.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C23BD0-3DA4-60BB-6FEA-045FE9380DC0}"/>
              </a:ext>
            </a:extLst>
          </p:cNvPr>
          <p:cNvSpPr/>
          <p:nvPr/>
        </p:nvSpPr>
        <p:spPr>
          <a:xfrm>
            <a:off x="8001001" y="5219700"/>
            <a:ext cx="9906000" cy="1981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Here I am going to present the Sales Tracking of the Super Market across different Sectors, Products, Shipment Details, Region and Category via Data Visualization.  </a:t>
            </a:r>
          </a:p>
          <a:p>
            <a:pPr algn="ctr"/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3082" y="3025327"/>
            <a:ext cx="8905009" cy="1293668"/>
            <a:chOff x="0" y="0"/>
            <a:chExt cx="11873345" cy="172489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873345" cy="1724891"/>
              <a:chOff x="0" y="0"/>
              <a:chExt cx="2345352" cy="34071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45352" cy="340719"/>
              </a:xfrm>
              <a:custGeom>
                <a:avLst/>
                <a:gdLst/>
                <a:ahLst/>
                <a:cxnLst/>
                <a:rect l="l" t="t" r="r" b="b"/>
                <a:pathLst>
                  <a:path w="2345352" h="340719">
                    <a:moveTo>
                      <a:pt x="44339" y="0"/>
                    </a:moveTo>
                    <a:lnTo>
                      <a:pt x="2301013" y="0"/>
                    </a:lnTo>
                    <a:cubicBezTo>
                      <a:pt x="2312773" y="0"/>
                      <a:pt x="2324051" y="4671"/>
                      <a:pt x="2332366" y="12987"/>
                    </a:cubicBezTo>
                    <a:cubicBezTo>
                      <a:pt x="2340681" y="21302"/>
                      <a:pt x="2345352" y="32579"/>
                      <a:pt x="2345352" y="44339"/>
                    </a:cubicBezTo>
                    <a:lnTo>
                      <a:pt x="2345352" y="296380"/>
                    </a:lnTo>
                    <a:cubicBezTo>
                      <a:pt x="2345352" y="308140"/>
                      <a:pt x="2340681" y="319417"/>
                      <a:pt x="2332366" y="327733"/>
                    </a:cubicBezTo>
                    <a:cubicBezTo>
                      <a:pt x="2324051" y="336048"/>
                      <a:pt x="2312773" y="340719"/>
                      <a:pt x="2301013" y="340719"/>
                    </a:cubicBezTo>
                    <a:lnTo>
                      <a:pt x="44339" y="340719"/>
                    </a:lnTo>
                    <a:cubicBezTo>
                      <a:pt x="32579" y="340719"/>
                      <a:pt x="21302" y="336048"/>
                      <a:pt x="12987" y="327733"/>
                    </a:cubicBezTo>
                    <a:cubicBezTo>
                      <a:pt x="4671" y="319417"/>
                      <a:pt x="0" y="308140"/>
                      <a:pt x="0" y="296380"/>
                    </a:cubicBezTo>
                    <a:lnTo>
                      <a:pt x="0" y="44339"/>
                    </a:lnTo>
                    <a:cubicBezTo>
                      <a:pt x="0" y="32579"/>
                      <a:pt x="4671" y="21302"/>
                      <a:pt x="12987" y="12987"/>
                    </a:cubicBezTo>
                    <a:cubicBezTo>
                      <a:pt x="21302" y="4671"/>
                      <a:pt x="32579" y="0"/>
                      <a:pt x="443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345352" cy="3788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63091" y="192097"/>
              <a:ext cx="1874315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spc="112" dirty="0">
                  <a:solidFill>
                    <a:srgbClr val="158E2C"/>
                  </a:solidFill>
                  <a:latin typeface="Fraunces Heavy"/>
                  <a:ea typeface="Fraunces Heavy"/>
                  <a:cs typeface="Fraunces Heavy"/>
                  <a:sym typeface="Fraunces Heavy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0291" y="284231"/>
              <a:ext cx="9550400" cy="10578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19"/>
                </a:lnSpc>
                <a:spcBef>
                  <a:spcPct val="0"/>
                </a:spcBef>
              </a:pPr>
              <a:r>
                <a:rPr lang="en-US" sz="4400" b="1" spc="96" dirty="0">
                  <a:solidFill>
                    <a:srgbClr val="0070C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UNIVARIATE ANALYSIS</a:t>
              </a:r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0" y="4776195"/>
            <a:ext cx="20757708" cy="5742966"/>
          </a:xfrm>
          <a:custGeom>
            <a:avLst/>
            <a:gdLst/>
            <a:ahLst/>
            <a:cxnLst/>
            <a:rect l="l" t="t" r="r" b="b"/>
            <a:pathLst>
              <a:path w="20757708" h="5742966">
                <a:moveTo>
                  <a:pt x="20757708" y="0"/>
                </a:moveTo>
                <a:lnTo>
                  <a:pt x="0" y="0"/>
                </a:lnTo>
                <a:lnTo>
                  <a:pt x="0" y="5742966"/>
                </a:lnTo>
                <a:lnTo>
                  <a:pt x="20757708" y="5742966"/>
                </a:lnTo>
                <a:lnTo>
                  <a:pt x="207577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3082" y="4527101"/>
            <a:ext cx="8959118" cy="1438329"/>
            <a:chOff x="0" y="-192881"/>
            <a:chExt cx="11945490" cy="191777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192881"/>
              <a:ext cx="11873345" cy="1917772"/>
              <a:chOff x="0" y="-38100"/>
              <a:chExt cx="2345352" cy="37881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345352" cy="340719"/>
              </a:xfrm>
              <a:custGeom>
                <a:avLst/>
                <a:gdLst/>
                <a:ahLst/>
                <a:cxnLst/>
                <a:rect l="l" t="t" r="r" b="b"/>
                <a:pathLst>
                  <a:path w="2345352" h="340719">
                    <a:moveTo>
                      <a:pt x="44339" y="0"/>
                    </a:moveTo>
                    <a:lnTo>
                      <a:pt x="2301013" y="0"/>
                    </a:lnTo>
                    <a:cubicBezTo>
                      <a:pt x="2312773" y="0"/>
                      <a:pt x="2324051" y="4671"/>
                      <a:pt x="2332366" y="12987"/>
                    </a:cubicBezTo>
                    <a:cubicBezTo>
                      <a:pt x="2340681" y="21302"/>
                      <a:pt x="2345352" y="32579"/>
                      <a:pt x="2345352" y="44339"/>
                    </a:cubicBezTo>
                    <a:lnTo>
                      <a:pt x="2345352" y="296380"/>
                    </a:lnTo>
                    <a:cubicBezTo>
                      <a:pt x="2345352" y="308140"/>
                      <a:pt x="2340681" y="319417"/>
                      <a:pt x="2332366" y="327733"/>
                    </a:cubicBezTo>
                    <a:cubicBezTo>
                      <a:pt x="2324051" y="336048"/>
                      <a:pt x="2312773" y="340719"/>
                      <a:pt x="2301013" y="340719"/>
                    </a:cubicBezTo>
                    <a:lnTo>
                      <a:pt x="44339" y="340719"/>
                    </a:lnTo>
                    <a:cubicBezTo>
                      <a:pt x="32579" y="340719"/>
                      <a:pt x="21302" y="336048"/>
                      <a:pt x="12987" y="327733"/>
                    </a:cubicBezTo>
                    <a:cubicBezTo>
                      <a:pt x="4671" y="319417"/>
                      <a:pt x="0" y="308140"/>
                      <a:pt x="0" y="296380"/>
                    </a:cubicBezTo>
                    <a:lnTo>
                      <a:pt x="0" y="44339"/>
                    </a:lnTo>
                    <a:cubicBezTo>
                      <a:pt x="0" y="32579"/>
                      <a:pt x="4671" y="21302"/>
                      <a:pt x="12987" y="12987"/>
                    </a:cubicBezTo>
                    <a:cubicBezTo>
                      <a:pt x="21302" y="4671"/>
                      <a:pt x="32579" y="0"/>
                      <a:pt x="443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2345352" cy="3788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63091" y="192098"/>
              <a:ext cx="1874315" cy="1235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spc="112" dirty="0">
                  <a:solidFill>
                    <a:srgbClr val="158E2C"/>
                  </a:solidFill>
                  <a:latin typeface="Fraunces Heavy"/>
                  <a:ea typeface="Fraunces Heavy"/>
                  <a:cs typeface="Fraunces Heavy"/>
                  <a:sym typeface="Fraunces Heavy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64036" y="264334"/>
              <a:ext cx="9681454" cy="10758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  <a:spcBef>
                  <a:spcPct val="0"/>
                </a:spcBef>
              </a:pPr>
              <a:r>
                <a:rPr lang="en-US" sz="4400" b="1" spc="96" dirty="0">
                  <a:solidFill>
                    <a:srgbClr val="0070C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BIVARIATE ANALYSIS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318197"/>
            <a:ext cx="12070350" cy="1293668"/>
            <a:chOff x="0" y="0"/>
            <a:chExt cx="16093800" cy="172489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1873345" cy="1724891"/>
              <a:chOff x="0" y="0"/>
              <a:chExt cx="2345352" cy="34071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345352" cy="340719"/>
              </a:xfrm>
              <a:custGeom>
                <a:avLst/>
                <a:gdLst/>
                <a:ahLst/>
                <a:cxnLst/>
                <a:rect l="l" t="t" r="r" b="b"/>
                <a:pathLst>
                  <a:path w="2345352" h="340719">
                    <a:moveTo>
                      <a:pt x="44339" y="0"/>
                    </a:moveTo>
                    <a:lnTo>
                      <a:pt x="2301013" y="0"/>
                    </a:lnTo>
                    <a:cubicBezTo>
                      <a:pt x="2312773" y="0"/>
                      <a:pt x="2324051" y="4671"/>
                      <a:pt x="2332366" y="12987"/>
                    </a:cubicBezTo>
                    <a:cubicBezTo>
                      <a:pt x="2340681" y="21302"/>
                      <a:pt x="2345352" y="32579"/>
                      <a:pt x="2345352" y="44339"/>
                    </a:cubicBezTo>
                    <a:lnTo>
                      <a:pt x="2345352" y="296380"/>
                    </a:lnTo>
                    <a:cubicBezTo>
                      <a:pt x="2345352" y="308140"/>
                      <a:pt x="2340681" y="319417"/>
                      <a:pt x="2332366" y="327733"/>
                    </a:cubicBezTo>
                    <a:cubicBezTo>
                      <a:pt x="2324051" y="336048"/>
                      <a:pt x="2312773" y="340719"/>
                      <a:pt x="2301013" y="340719"/>
                    </a:cubicBezTo>
                    <a:lnTo>
                      <a:pt x="44339" y="340719"/>
                    </a:lnTo>
                    <a:cubicBezTo>
                      <a:pt x="32579" y="340719"/>
                      <a:pt x="21302" y="336048"/>
                      <a:pt x="12987" y="327733"/>
                    </a:cubicBezTo>
                    <a:cubicBezTo>
                      <a:pt x="4671" y="319417"/>
                      <a:pt x="0" y="308140"/>
                      <a:pt x="0" y="296380"/>
                    </a:cubicBezTo>
                    <a:lnTo>
                      <a:pt x="0" y="44339"/>
                    </a:lnTo>
                    <a:cubicBezTo>
                      <a:pt x="0" y="32579"/>
                      <a:pt x="4671" y="21302"/>
                      <a:pt x="12987" y="12987"/>
                    </a:cubicBezTo>
                    <a:cubicBezTo>
                      <a:pt x="21302" y="4671"/>
                      <a:pt x="32579" y="0"/>
                      <a:pt x="443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2345352" cy="3788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55600" y="192097"/>
              <a:ext cx="1874315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spc="112" dirty="0">
                  <a:solidFill>
                    <a:srgbClr val="158E2C"/>
                  </a:solidFill>
                  <a:latin typeface="Fraunces Heavy"/>
                  <a:ea typeface="Fraunces Heavy"/>
                  <a:cs typeface="Fraunces Heavy"/>
                  <a:sym typeface="Fraunces Heavy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2800" y="226175"/>
              <a:ext cx="14011000" cy="10758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  <a:spcBef>
                  <a:spcPct val="0"/>
                </a:spcBef>
              </a:pPr>
              <a:r>
                <a:rPr lang="en-US" sz="4000" b="1" spc="96" dirty="0">
                  <a:solidFill>
                    <a:srgbClr val="0070C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MULTIVARIATE ANALYSIS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3082" y="7964632"/>
            <a:ext cx="10025918" cy="1293668"/>
            <a:chOff x="0" y="0"/>
            <a:chExt cx="13367890" cy="1724891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1873345" cy="1724891"/>
              <a:chOff x="0" y="0"/>
              <a:chExt cx="2345352" cy="34071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345352" cy="340719"/>
              </a:xfrm>
              <a:custGeom>
                <a:avLst/>
                <a:gdLst/>
                <a:ahLst/>
                <a:cxnLst/>
                <a:rect l="l" t="t" r="r" b="b"/>
                <a:pathLst>
                  <a:path w="2345352" h="340719">
                    <a:moveTo>
                      <a:pt x="44339" y="0"/>
                    </a:moveTo>
                    <a:lnTo>
                      <a:pt x="2301013" y="0"/>
                    </a:lnTo>
                    <a:cubicBezTo>
                      <a:pt x="2312773" y="0"/>
                      <a:pt x="2324051" y="4671"/>
                      <a:pt x="2332366" y="12987"/>
                    </a:cubicBezTo>
                    <a:cubicBezTo>
                      <a:pt x="2340681" y="21302"/>
                      <a:pt x="2345352" y="32579"/>
                      <a:pt x="2345352" y="44339"/>
                    </a:cubicBezTo>
                    <a:lnTo>
                      <a:pt x="2345352" y="296380"/>
                    </a:lnTo>
                    <a:cubicBezTo>
                      <a:pt x="2345352" y="308140"/>
                      <a:pt x="2340681" y="319417"/>
                      <a:pt x="2332366" y="327733"/>
                    </a:cubicBezTo>
                    <a:cubicBezTo>
                      <a:pt x="2324051" y="336048"/>
                      <a:pt x="2312773" y="340719"/>
                      <a:pt x="2301013" y="340719"/>
                    </a:cubicBezTo>
                    <a:lnTo>
                      <a:pt x="44339" y="340719"/>
                    </a:lnTo>
                    <a:cubicBezTo>
                      <a:pt x="32579" y="340719"/>
                      <a:pt x="21302" y="336048"/>
                      <a:pt x="12987" y="327733"/>
                    </a:cubicBezTo>
                    <a:cubicBezTo>
                      <a:pt x="4671" y="319417"/>
                      <a:pt x="0" y="308140"/>
                      <a:pt x="0" y="296380"/>
                    </a:cubicBezTo>
                    <a:lnTo>
                      <a:pt x="0" y="44339"/>
                    </a:lnTo>
                    <a:cubicBezTo>
                      <a:pt x="0" y="32579"/>
                      <a:pt x="4671" y="21302"/>
                      <a:pt x="12987" y="12987"/>
                    </a:cubicBezTo>
                    <a:cubicBezTo>
                      <a:pt x="21302" y="4671"/>
                      <a:pt x="32579" y="0"/>
                      <a:pt x="443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345352" cy="3788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63091" y="192097"/>
              <a:ext cx="1874315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spc="112" dirty="0">
                  <a:solidFill>
                    <a:srgbClr val="158E2C"/>
                  </a:solidFill>
                  <a:latin typeface="Fraunces Heavy"/>
                  <a:ea typeface="Fraunces Heavy"/>
                  <a:cs typeface="Fraunces Heavy"/>
                  <a:sym typeface="Fraunces Heavy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4200" y="226175"/>
              <a:ext cx="11173690" cy="10578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719"/>
                </a:lnSpc>
                <a:spcBef>
                  <a:spcPct val="0"/>
                </a:spcBef>
              </a:pPr>
              <a:r>
                <a:rPr lang="en-US" sz="4400" b="1" spc="96" dirty="0">
                  <a:solidFill>
                    <a:srgbClr val="0070C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CONCLUSION</a:t>
              </a:r>
            </a:p>
          </p:txBody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33433" y="174903"/>
            <a:ext cx="7249853" cy="12392912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28700" y="1197812"/>
            <a:ext cx="6160963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 spc="16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CONTENTS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190500" cap="sq">
              <a:solidFill>
                <a:srgbClr val="158E2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4000" y="-190500"/>
            <a:ext cx="10248900" cy="1063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3200" b="1" spc="160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Category Distribution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62ECC3-DD15-DBE4-2F84-4BD0E5A5C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" y="1104900"/>
            <a:ext cx="7222268" cy="54102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50D5F530-6A67-B257-F4B0-360FC1C1892C}"/>
              </a:ext>
            </a:extLst>
          </p:cNvPr>
          <p:cNvSpPr txBox="1"/>
          <p:nvPr/>
        </p:nvSpPr>
        <p:spPr>
          <a:xfrm>
            <a:off x="7543800" y="6099676"/>
            <a:ext cx="2286000" cy="102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3200" b="1" spc="160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Insights: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F3B8E4-0D3E-EC58-5960-ABB523059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1104900"/>
            <a:ext cx="8686800" cy="541020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49D666-E62F-4AB8-6125-F8052DAAA4E8}"/>
              </a:ext>
            </a:extLst>
          </p:cNvPr>
          <p:cNvSpPr/>
          <p:nvPr/>
        </p:nvSpPr>
        <p:spPr>
          <a:xfrm>
            <a:off x="4572000" y="7170539"/>
            <a:ext cx="8686800" cy="28497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1) Office Supplies category has the highest number of orders.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2) Furniture and Technology categories have comparatively fewer orders.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3) In sub-categories, Binders and Paper have the highest counts.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4) Phones and Furnishings are also frequently purchased products.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5) Machines and Copiers have the lowest order frequency.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dirty="0">
                <a:solidFill>
                  <a:schemeClr val="accent1"/>
                </a:solidFill>
                <a:latin typeface="Telegraf"/>
                <a:ea typeface="Telegraf"/>
                <a:cs typeface="Telegraf"/>
                <a:sym typeface="Telegraf"/>
              </a:rPr>
              <a:t>6) Customers mostly purchase low-cost office-related products regularly.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958F3-2786-6FDE-D36B-7C5A1E34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B35E42B-511A-7E25-48A7-84188036F5D2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3796AC-7683-A295-FCEC-EEB9D61BAD2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190500" cap="sq">
              <a:solidFill>
                <a:srgbClr val="158E2C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BB573E-7391-E7EE-942A-5A74D1D1A4A8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2DA98AD-A3F6-8378-C5CD-A8B47ADD438A}"/>
              </a:ext>
            </a:extLst>
          </p:cNvPr>
          <p:cNvSpPr txBox="1"/>
          <p:nvPr/>
        </p:nvSpPr>
        <p:spPr>
          <a:xfrm>
            <a:off x="5334000" y="-190500"/>
            <a:ext cx="10248900" cy="1063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3200" b="1" spc="160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Category Distribution Analysis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D97E7B68-7F37-3C45-A670-5EC2D88E0A51}"/>
              </a:ext>
            </a:extLst>
          </p:cNvPr>
          <p:cNvSpPr txBox="1"/>
          <p:nvPr/>
        </p:nvSpPr>
        <p:spPr>
          <a:xfrm>
            <a:off x="7543800" y="5372100"/>
            <a:ext cx="2286000" cy="102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3200" b="1" spc="160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Insights: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D8FC70-5134-7CFE-D1CE-B088A390DF7E}"/>
              </a:ext>
            </a:extLst>
          </p:cNvPr>
          <p:cNvSpPr/>
          <p:nvPr/>
        </p:nvSpPr>
        <p:spPr>
          <a:xfrm>
            <a:off x="4114800" y="6541785"/>
            <a:ext cx="10287000" cy="34785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Consumer segment contributes the highest share of orders (around 52%).</a:t>
            </a:r>
          </a:p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Corporate segment contributes moderate sales/orders (around 30%).</a:t>
            </a:r>
          </a:p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Home Office segment has the lowest contribution (around 18%).</a:t>
            </a:r>
          </a:p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Office Supplies category dominates overall orders (around 60%).</a:t>
            </a:r>
          </a:p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Furniture and Technology categories contribute smaller shares.</a:t>
            </a:r>
          </a:p>
          <a:p>
            <a:pPr marL="285750" indent="-285750" algn="just">
              <a:lnSpc>
                <a:spcPts val="294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Customers purchase office-related products more frequently than technology products.</a:t>
            </a:r>
            <a:endParaRPr lang="en-US" sz="2000" dirty="0">
              <a:solidFill>
                <a:srgbClr val="00206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7E055-2B0D-F541-3B4B-9E2D846355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61"/>
          <a:stretch>
            <a:fillRect/>
          </a:stretch>
        </p:blipFill>
        <p:spPr>
          <a:xfrm>
            <a:off x="451879" y="1228776"/>
            <a:ext cx="8773643" cy="4268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039EBE-69F3-E7A4-AF34-B316F436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228777"/>
            <a:ext cx="8153400" cy="426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4202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1624" y="547687"/>
            <a:ext cx="16751170" cy="3133976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77340" y="880233"/>
            <a:ext cx="5486400" cy="246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160" dirty="0">
                <a:latin typeface="+mj-lt"/>
                <a:ea typeface="+mj-ea"/>
                <a:cs typeface="+mj-cs"/>
                <a:sym typeface="Fraunces Heavy"/>
              </a:rPr>
              <a:t>Bivariate Analysis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612" y="1586608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65312" y="2100957"/>
            <a:ext cx="21945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DAEC0-C7F5-6676-31CB-C930E86B63C1}"/>
              </a:ext>
            </a:extLst>
          </p:cNvPr>
          <p:cNvSpPr/>
          <p:nvPr/>
        </p:nvSpPr>
        <p:spPr>
          <a:xfrm>
            <a:off x="7875159" y="880233"/>
            <a:ext cx="9160113" cy="24688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>
                <a:solidFill>
                  <a:schemeClr val="tx1"/>
                </a:solidFill>
              </a:rPr>
              <a:t>South and East regions show higher average sales.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>
                <a:solidFill>
                  <a:schemeClr val="tx1"/>
                </a:solidFill>
              </a:rPr>
              <a:t>Technology category has highest sales variability.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>
                <a:solidFill>
                  <a:schemeClr val="tx1"/>
                </a:solidFill>
              </a:rPr>
              <a:t>Office Supplies has lower median sales.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>
                <a:solidFill>
                  <a:schemeClr val="tx1"/>
                </a:solidFill>
              </a:rPr>
              <a:t>Presence of outliers indicates high-value transactions.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C181ECE-30FF-41CB-6F76-B13BBDEA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30" y="4094095"/>
            <a:ext cx="6353552" cy="522579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989F67B-64D3-1E95-66FA-063FBBD3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28" y="4094095"/>
            <a:ext cx="7038109" cy="522579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2308D-A2DA-4E9E-7FD1-4BBB0102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362" y="950428"/>
            <a:ext cx="6419075" cy="8243888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16078C6-34CC-6F71-1299-8AB67C51B252}"/>
              </a:ext>
            </a:extLst>
          </p:cNvPr>
          <p:cNvSpPr txBox="1"/>
          <p:nvPr/>
        </p:nvSpPr>
        <p:spPr>
          <a:xfrm>
            <a:off x="1261870" y="1467928"/>
            <a:ext cx="5116068" cy="1659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4400" dirty="0"/>
              <a:t>Category-wise Profit Distribution</a:t>
            </a:r>
            <a:endParaRPr lang="en-US" sz="4200" b="1" kern="1200" spc="160" dirty="0">
              <a:solidFill>
                <a:schemeClr val="tx1"/>
              </a:solidFill>
              <a:latin typeface="+mj-lt"/>
              <a:ea typeface="+mj-ea"/>
              <a:cs typeface="+mj-cs"/>
              <a:sym typeface="Fraunces Heavy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350" y="1756950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6188" y="3140964"/>
            <a:ext cx="4992624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1DFAB67-2E06-2A63-B2DD-43D99D3EE35C}"/>
              </a:ext>
            </a:extLst>
          </p:cNvPr>
          <p:cNvSpPr/>
          <p:nvPr/>
        </p:nvSpPr>
        <p:spPr>
          <a:xfrm>
            <a:off x="762000" y="3379305"/>
            <a:ext cx="6019800" cy="534037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Sales and Profit show a positive relationship.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Higher sales generally lead to higher profit.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Some transactions result in negative profit despite high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Technology category has the highest profit variability.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Presence of outliers indicates high-value transactions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1D90-7887-1534-8774-035DD61A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95499"/>
            <a:ext cx="9985248" cy="701040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2B987E-7F44-B322-229D-B3625092F448}"/>
              </a:ext>
            </a:extLst>
          </p:cNvPr>
          <p:cNvSpPr/>
          <p:nvPr/>
        </p:nvSpPr>
        <p:spPr>
          <a:xfrm>
            <a:off x="8965018" y="585468"/>
            <a:ext cx="7391400" cy="992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MULTIVARIATE ANALYSIS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80442963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8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4055" y="1125692"/>
            <a:ext cx="718990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b="1" spc="160" dirty="0">
                <a:solidFill>
                  <a:srgbClr val="FFDE59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CORRELATION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32619" y="7167116"/>
            <a:ext cx="6097682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16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1,000,000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87166" y="8606790"/>
            <a:ext cx="318858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158E2C"/>
                </a:solidFill>
                <a:latin typeface="Telegraf Bold"/>
                <a:ea typeface="Telegraf Bold"/>
                <a:cs typeface="Telegraf Bold"/>
                <a:sym typeface="Telegraf Bold"/>
              </a:rPr>
              <a:t>POINT 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8643" y="3038454"/>
            <a:ext cx="565936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spc="127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10,000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44030" y="4135128"/>
            <a:ext cx="318858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158E2C"/>
                </a:solidFill>
                <a:latin typeface="Telegraf Bold"/>
                <a:ea typeface="Telegraf Bold"/>
                <a:cs typeface="Telegraf Bold"/>
                <a:sym typeface="Telegraf Bold"/>
              </a:rPr>
              <a:t>POINT 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78961" y="7794178"/>
            <a:ext cx="5659363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spc="144" dirty="0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100,000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14349" y="9011473"/>
            <a:ext cx="318858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158E2C"/>
                </a:solidFill>
                <a:latin typeface="Telegraf Bold"/>
                <a:ea typeface="Telegraf Bold"/>
                <a:cs typeface="Telegraf Bold"/>
                <a:sym typeface="Telegraf Bold"/>
              </a:rPr>
              <a:t>POINT 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8637" y="1619702"/>
            <a:ext cx="565936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spc="112">
                <a:solidFill>
                  <a:srgbClr val="158E2C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1,000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64024" y="2628702"/>
            <a:ext cx="318858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215">
                <a:solidFill>
                  <a:srgbClr val="158E2C"/>
                </a:solidFill>
                <a:latin typeface="Telegraf Bold"/>
                <a:ea typeface="Telegraf Bold"/>
                <a:cs typeface="Telegraf Bold"/>
                <a:sym typeface="Telegraf Bold"/>
              </a:rPr>
              <a:t>POINT 02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6AD6DA6-86A5-6458-947C-460CE1DE5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1089422"/>
            <a:ext cx="9416192" cy="81940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7D60D1-8BB3-6E94-80CF-5D4F6D5C4592}"/>
              </a:ext>
            </a:extLst>
          </p:cNvPr>
          <p:cNvSpPr/>
          <p:nvPr/>
        </p:nvSpPr>
        <p:spPr>
          <a:xfrm>
            <a:off x="914400" y="3280212"/>
            <a:ext cx="6678291" cy="620668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Sales and Profit show moderate positive correlation (0.48).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Discount and Profit have negative correlation (-0.22).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Higher discounts may reduce profitability.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Quantity has very weak correlation with Profit.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800" dirty="0"/>
              <a:t>Sales slightly increase with Quantity.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8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10812125" y="6811630"/>
            <a:ext cx="7990025" cy="2770004"/>
            <a:chOff x="0" y="0"/>
            <a:chExt cx="1808350" cy="6269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8350" cy="626924"/>
            </a:xfrm>
            <a:custGeom>
              <a:avLst/>
              <a:gdLst/>
              <a:ahLst/>
              <a:cxnLst/>
              <a:rect l="l" t="t" r="r" b="b"/>
              <a:pathLst>
                <a:path w="1808350" h="626924">
                  <a:moveTo>
                    <a:pt x="904175" y="0"/>
                  </a:moveTo>
                  <a:cubicBezTo>
                    <a:pt x="404813" y="0"/>
                    <a:pt x="0" y="140342"/>
                    <a:pt x="0" y="313462"/>
                  </a:cubicBezTo>
                  <a:cubicBezTo>
                    <a:pt x="0" y="486582"/>
                    <a:pt x="404813" y="626924"/>
                    <a:pt x="904175" y="626924"/>
                  </a:cubicBezTo>
                  <a:cubicBezTo>
                    <a:pt x="1403537" y="626924"/>
                    <a:pt x="1808350" y="486582"/>
                    <a:pt x="1808350" y="313462"/>
                  </a:cubicBezTo>
                  <a:cubicBezTo>
                    <a:pt x="1808350" y="140342"/>
                    <a:pt x="1403537" y="0"/>
                    <a:pt x="904175" y="0"/>
                  </a:cubicBezTo>
                  <a:close/>
                </a:path>
              </a:pathLst>
            </a:custGeom>
            <a:solidFill>
              <a:srgbClr val="EEE6C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69533" y="20674"/>
              <a:ext cx="1469285" cy="547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812125" y="1173620"/>
            <a:ext cx="7657669" cy="8369037"/>
          </a:xfrm>
          <a:prstGeom prst="rect">
            <a:avLst/>
          </a:prstGeom>
        </p:spPr>
      </p:pic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51BE9EAC-4566-4A42-933C-9A1970E324C9}"/>
              </a:ext>
            </a:extLst>
          </p:cNvPr>
          <p:cNvSpPr/>
          <p:nvPr/>
        </p:nvSpPr>
        <p:spPr>
          <a:xfrm>
            <a:off x="838200" y="952500"/>
            <a:ext cx="7391400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002060"/>
                </a:solidFill>
              </a:rPr>
              <a:t>CONCLUSION</a:t>
            </a:r>
            <a:endParaRPr lang="en-IN" sz="5400" dirty="0">
              <a:solidFill>
                <a:srgbClr val="002060"/>
              </a:solidFill>
            </a:endParaRP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8B7721CE-E7D7-7429-8A58-F9145AB7B8FC}"/>
              </a:ext>
            </a:extLst>
          </p:cNvPr>
          <p:cNvSpPr/>
          <p:nvPr/>
        </p:nvSpPr>
        <p:spPr>
          <a:xfrm>
            <a:off x="457200" y="2324100"/>
            <a:ext cx="10022569" cy="7391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Office Supplies category has the highest number of orders.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Technology category generates high-value sales and profits.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Sales and Profit show a positive relationship overall.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Some transactions result in negative profit despite high sales.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Discount has a negative impact on Profitability.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High-value outliers are present across categories.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Consumer segment contributes the highest share of sales.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East and South regions show comparatively better sales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Quantity has only a weak relationship with Profit.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Data visualization helped identify trends, outliers, and business patterns effectively.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90713" y="457555"/>
            <a:ext cx="13548474" cy="79258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6904368"/>
            <a:ext cx="18288000" cy="3382632"/>
            <a:chOff x="0" y="0"/>
            <a:chExt cx="4816593" cy="8908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890899"/>
            </a:xfrm>
            <a:custGeom>
              <a:avLst/>
              <a:gdLst/>
              <a:ahLst/>
              <a:cxnLst/>
              <a:rect l="l" t="t" r="r" b="b"/>
              <a:pathLst>
                <a:path w="4816592" h="890899">
                  <a:moveTo>
                    <a:pt x="0" y="0"/>
                  </a:moveTo>
                  <a:lnTo>
                    <a:pt x="4816592" y="0"/>
                  </a:lnTo>
                  <a:lnTo>
                    <a:pt x="4816592" y="890899"/>
                  </a:lnTo>
                  <a:lnTo>
                    <a:pt x="0" y="8908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28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35028" y="7491872"/>
            <a:ext cx="15459844" cy="175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1" dirty="0">
                <a:solidFill>
                  <a:srgbClr val="158E2C"/>
                </a:solidFill>
                <a:latin typeface="Fraunces Bold"/>
                <a:ea typeface="Fraunces Bold"/>
                <a:cs typeface="Fraunces Bold"/>
                <a:sym typeface="Fraunces Bold"/>
              </a:rPr>
              <a:t>"SUCCESS IS NOT THE KEY TO HAPPINESS. HAPPINESS IS THE KEY TO SUCCESS. IF YOU LOVE WHAT YOU ARE DOING, YOU WILL BE SUCCESSFUL."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21569" y="9500100"/>
            <a:ext cx="122448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F58569"/>
                </a:solidFill>
                <a:latin typeface="Telegraf Bold"/>
                <a:ea typeface="Telegraf Bold"/>
                <a:cs typeface="Telegraf Bold"/>
                <a:sym typeface="Telegraf Bold"/>
              </a:rPr>
              <a:t>ALBERT SCHWEITZER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8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95400" y="5026787"/>
            <a:ext cx="15468600" cy="591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415"/>
              </a:lnSpc>
            </a:pPr>
            <a:r>
              <a:rPr lang="en-US" sz="8000" b="1" i="1" dirty="0">
                <a:solidFill>
                  <a:srgbClr val="FFDE5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Thank You 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684</TotalTime>
  <Words>451</Words>
  <Application>Microsoft Office PowerPoint</Application>
  <PresentationFormat>Custom</PresentationFormat>
  <Paragraphs>72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Fraunces Heavy</vt:lpstr>
      <vt:lpstr>Telegraf</vt:lpstr>
      <vt:lpstr>Telegraf Bold</vt:lpstr>
      <vt:lpstr>Arial</vt:lpstr>
      <vt:lpstr>Wingdings</vt:lpstr>
      <vt:lpstr>Fraunces Bold</vt:lpstr>
      <vt:lpstr>Calibri</vt:lpstr>
      <vt:lpstr>Canva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Data Science Slides</dc:title>
  <dc:creator>Aakash Dharshan</dc:creator>
  <cp:lastModifiedBy>Aakash Dharshan</cp:lastModifiedBy>
  <cp:revision>3</cp:revision>
  <dcterms:created xsi:type="dcterms:W3CDTF">2006-08-16T00:00:00Z</dcterms:created>
  <dcterms:modified xsi:type="dcterms:W3CDTF">2026-05-12T19:32:40Z</dcterms:modified>
  <dc:identifier>DAHJcDK1lts</dc:identifier>
</cp:coreProperties>
</file>